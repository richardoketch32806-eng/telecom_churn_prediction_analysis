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73" r:id="rId5"/>
    <p:sldId id="260" r:id="rId6"/>
    <p:sldId id="261" r:id="rId7"/>
    <p:sldId id="270" r:id="rId8"/>
    <p:sldId id="271" r:id="rId9"/>
    <p:sldId id="264" r:id="rId10"/>
    <p:sldId id="272" r:id="rId11"/>
    <p:sldId id="265" r:id="rId12"/>
    <p:sldId id="274" r:id="rId13"/>
    <p:sldId id="276" r:id="rId14"/>
    <p:sldId id="266" r:id="rId15"/>
    <p:sldId id="275" r:id="rId16"/>
    <p:sldId id="267" r:id="rId17"/>
    <p:sldId id="268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996" autoAdjust="0"/>
  </p:normalViewPr>
  <p:slideViewPr>
    <p:cSldViewPr snapToGrid="0" snapToObjects="1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47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13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82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Final model – confusion matrix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380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58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81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5" name="Text 2"/>
          <p:cNvSpPr/>
          <p:nvPr/>
        </p:nvSpPr>
        <p:spPr>
          <a:xfrm>
            <a:off x="457199" y="397042"/>
            <a:ext cx="8783053" cy="2358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</a:t>
            </a: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</a:p>
          <a:p>
            <a:pPr marL="0" indent="0" algn="l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</a:rPr>
              <a:t>          </a:t>
            </a:r>
          </a:p>
          <a:p>
            <a:pPr marL="0" indent="0" algn="l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</a:rPr>
              <a:t>       </a:t>
            </a: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</a:rPr>
              <a:t>presented by : Richard </a:t>
            </a:r>
            <a:r>
              <a:rPr lang="en-US" sz="3200" b="1" dirty="0" err="1" smtClean="0">
                <a:solidFill>
                  <a:srgbClr val="FFFFFF"/>
                </a:solidFill>
                <a:latin typeface="Trebuchet MS" pitchFamily="34" charset="0"/>
              </a:rPr>
              <a:t>Oketch</a:t>
            </a:r>
            <a:endParaRPr lang="en-US" sz="3600" b="1" dirty="0">
              <a:solidFill>
                <a:srgbClr val="FFFFFF"/>
              </a:solidFill>
              <a:latin typeface="Trebuchet MS" pitchFamily="34" charset="0"/>
            </a:endParaRPr>
          </a:p>
          <a:p>
            <a:pPr marL="0" indent="0" algn="l">
              <a:buNone/>
            </a:pPr>
            <a:r>
              <a:rPr lang="en-US" sz="3600" dirty="0" smtClean="0"/>
              <a:t> 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30867" y="2941721"/>
            <a:ext cx="2420033" cy="1716665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3570" y="2504735"/>
            <a:ext cx="2037668" cy="2231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3,333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5326" y="3410712"/>
            <a:ext cx="1369194" cy="1498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 Analysed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17141" y="2911642"/>
            <a:ext cx="2595453" cy="1746743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568743"/>
            <a:ext cx="4572000" cy="2011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057400" y="3152274"/>
            <a:ext cx="4572000" cy="1756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Churn Rate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78835" y="2911643"/>
            <a:ext cx="2920786" cy="1701504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3994" y="1816768"/>
            <a:ext cx="4141269" cy="3326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Models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666874" y="3152274"/>
            <a:ext cx="4054642" cy="1648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 &amp; Compared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Team  ·  Moringa School  ·  Customer Retention &amp; Marketing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the stage — why churn matters and what we set out to solve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41229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2412298" cy="4571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" y="1572768"/>
            <a:ext cx="91440" cy="91440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199" y="1517904"/>
            <a:ext cx="21209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Acquiring a new customer costs 5–7× more than retaining 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" y="2532888"/>
            <a:ext cx="91440" cy="91440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199" y="2478024"/>
            <a:ext cx="203849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 1% churn reduction = meaningful recurring revenue gain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" y="3493008"/>
            <a:ext cx="91440" cy="91440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38144"/>
            <a:ext cx="20384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outreach is far cheaper than win-back campaigns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27590" y="1033270"/>
            <a:ext cx="2495693" cy="359788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27590" y="973561"/>
            <a:ext cx="2495694" cy="5971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91976" y="1060704"/>
            <a:ext cx="123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51447" y="166878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23224" y="1517904"/>
            <a:ext cx="18494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14.5% of customers leave each year (~483 annually)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46634" y="262432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3623224" y="2478024"/>
            <a:ext cx="19411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only know a customer churned after it's too late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37800" y="349300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 flipH="1">
            <a:off x="3623224" y="3438144"/>
            <a:ext cx="18494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system exists to identify at-risk customers early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6578" y="973560"/>
            <a:ext cx="2607966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16578" y="973560"/>
            <a:ext cx="2607966" cy="59711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 flipH="1">
            <a:off x="7060818" y="1037844"/>
            <a:ext cx="1430038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Goal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55526" y="1662971"/>
            <a:ext cx="89652" cy="77277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8" name="Text 26"/>
          <p:cNvSpPr/>
          <p:nvPr/>
        </p:nvSpPr>
        <p:spPr>
          <a:xfrm>
            <a:off x="6545178" y="1517904"/>
            <a:ext cx="234278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 AI model to score every customer weekly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53738" y="253288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6545178" y="2478024"/>
            <a:ext cx="234278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high-risk customers before they decide to leave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88044" y="349300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6545178" y="3438144"/>
            <a:ext cx="23427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retention team a prioritised call list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10789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120640" y="407822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3,333 customers · 21 features · one clear target: did they leave?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960120"/>
            <a:ext cx="2084832" cy="6675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10312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875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3,333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" y="1252728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21031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37943"/>
            <a:ext cx="2103120" cy="6400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09928"/>
            <a:ext cx="2103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1828800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Churned (14.5%)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2706624"/>
            <a:ext cx="2084831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06624"/>
            <a:ext cx="2103120" cy="4571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78024"/>
            <a:ext cx="21031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6568" y="2670048"/>
            <a:ext cx="2160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Analysed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2103120" cy="6080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flipV="1">
            <a:off x="274320" y="3520438"/>
            <a:ext cx="2103120" cy="6401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593594"/>
            <a:ext cx="2103120" cy="466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3557016"/>
            <a:ext cx="21031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987552"/>
            <a:ext cx="6236208" cy="38587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35508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10528" y="143560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10528" y="20299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510528" y="262432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1883"/>
            <a:ext cx="6807124" cy="47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6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Finding — The Service Call Signal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single strongest early warning sign of a customer about to leave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987552"/>
            <a:ext cx="6294531" cy="3995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0292" y="868680"/>
            <a:ext cx="2255108" cy="4114800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29848" y="987552"/>
            <a:ext cx="16941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60292" y="1481328"/>
            <a:ext cx="2163668" cy="105156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0" name="Text 7"/>
          <p:cNvSpPr/>
          <p:nvPr/>
        </p:nvSpPr>
        <p:spPr>
          <a:xfrm>
            <a:off x="6709720" y="1527048"/>
            <a:ext cx="211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19784" y="2002536"/>
            <a:ext cx="190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for 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0–3 service calls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0292" y="2715768"/>
            <a:ext cx="2163668" cy="105156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3" name="Text 10"/>
          <p:cNvSpPr/>
          <p:nvPr/>
        </p:nvSpPr>
        <p:spPr>
          <a:xfrm>
            <a:off x="6919784" y="2761488"/>
            <a:ext cx="190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46–100%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030994" y="3236976"/>
            <a:ext cx="179296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for 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4+ service calls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5772" y="4041648"/>
            <a:ext cx="15581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Implication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02394" y="4315968"/>
            <a:ext cx="202156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a customer's 3rd call, route them immediately to a senior retention agent — before they decide to leave.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Finding — Usage Patterns Drive Churn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daytime callers face higher bills — and are more likely to leave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5" y="1042416"/>
            <a:ext cx="6948658" cy="3895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48383" y="928116"/>
            <a:ext cx="183052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48384" y="914400"/>
            <a:ext cx="1830528" cy="4571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9" name="Text 6"/>
          <p:cNvSpPr/>
          <p:nvPr/>
        </p:nvSpPr>
        <p:spPr>
          <a:xfrm>
            <a:off x="7475838" y="1005840"/>
            <a:ext cx="1320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52270" y="1353312"/>
            <a:ext cx="14442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Churners avg </a:t>
            </a: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207 min/day</a:t>
            </a: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vs 175 for retained — higher usage = higher bills = price pressure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48384" y="2907792"/>
            <a:ext cx="183052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48384" y="2907792"/>
            <a:ext cx="1830528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3" name="Text 10"/>
          <p:cNvSpPr/>
          <p:nvPr/>
        </p:nvSpPr>
        <p:spPr>
          <a:xfrm>
            <a:off x="7414054" y="2999232"/>
            <a:ext cx="13824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&amp; Evening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14054" y="3355848"/>
            <a:ext cx="138247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and evening minutes show very similar distributions between churned and retained — these are weaker predictors.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732242" y="-53661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Approach — Five Models Tested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8377" y="749807"/>
            <a:ext cx="8595360" cy="1059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tried increasingly powerful approaches until we found the best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841561"/>
            <a:ext cx="1581912" cy="28751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841561"/>
            <a:ext cx="1581912" cy="81441"/>
          </a:xfrm>
          <a:prstGeom prst="rect">
            <a:avLst/>
          </a:prstGeom>
          <a:solidFill>
            <a:srgbClr val="8896A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24128"/>
            <a:ext cx="1581912" cy="2126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417320"/>
            <a:ext cx="15819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(Baseline)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581912" cy="243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but only 25% recall — missed most churners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923002"/>
            <a:ext cx="1581912" cy="27937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832088"/>
            <a:ext cx="1581912" cy="90914"/>
          </a:xfrm>
          <a:prstGeom prst="rect">
            <a:avLst/>
          </a:prstGeom>
          <a:solidFill>
            <a:srgbClr val="8896A8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024128"/>
            <a:ext cx="1581912" cy="2126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93392" y="1417320"/>
            <a:ext cx="15819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(Tuned)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93392" y="2103119"/>
            <a:ext cx="1581912" cy="2330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Better: 74% recall, but poor at precision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12464" y="1923002"/>
            <a:ext cx="1581912" cy="27937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820248"/>
            <a:ext cx="1581912" cy="102754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8" name="Text 16"/>
          <p:cNvSpPr/>
          <p:nvPr/>
        </p:nvSpPr>
        <p:spPr>
          <a:xfrm>
            <a:off x="3712464" y="1024128"/>
            <a:ext cx="1581912" cy="2126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12464" y="1417320"/>
            <a:ext cx="1581912" cy="232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(Baseline)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12464" y="2103120"/>
            <a:ext cx="1581912" cy="2330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Memorised training data — overfit badly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31536" y="1923002"/>
            <a:ext cx="1581912" cy="27937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820248"/>
            <a:ext cx="1581912" cy="102753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3" name="Text 21"/>
          <p:cNvSpPr/>
          <p:nvPr/>
        </p:nvSpPr>
        <p:spPr>
          <a:xfrm>
            <a:off x="5431536" y="1039390"/>
            <a:ext cx="1581912" cy="2111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31536" y="1417320"/>
            <a:ext cx="1581912" cy="232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(Tuned)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31536" y="2103120"/>
            <a:ext cx="1581912" cy="243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74% recall, better balance — but still overfit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0608" y="1788540"/>
            <a:ext cx="1581912" cy="2928184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788540"/>
            <a:ext cx="1581912" cy="105255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1024128"/>
            <a:ext cx="1581912" cy="217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50608" y="1251740"/>
            <a:ext cx="1581912" cy="266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FINAL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50608" y="2103120"/>
            <a:ext cx="1581912" cy="243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generalisation, highest AUC (0.88), most reliable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39502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7665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09" y="546009"/>
            <a:ext cx="5971238" cy="44535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2892"/>
            <a:ext cx="9144000" cy="55916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2400" b="1" dirty="0" smtClean="0">
                <a:solidFill>
                  <a:srgbClr val="0D1B2A"/>
                </a:solidFill>
                <a:latin typeface="Trebuchet MS" pitchFamily="34" charset="0"/>
              </a:rPr>
              <a:t>Model — Decision Tree (Tuned)</a:t>
            </a:r>
            <a:endParaRPr lang="en-US" dirty="0">
              <a:solidFill>
                <a:srgbClr val="0D1B2A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6660292" y="868680"/>
            <a:ext cx="2255108" cy="4114800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 flipH="1">
            <a:off x="6857996" y="1151223"/>
            <a:ext cx="183209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9913D"/>
                </a:solidFill>
              </a:rPr>
              <a:t>Interpretation</a:t>
            </a:r>
            <a:br>
              <a:rPr lang="en-US" sz="1400" dirty="0" smtClean="0">
                <a:solidFill>
                  <a:srgbClr val="C9913D"/>
                </a:solidFill>
              </a:rPr>
            </a:br>
            <a:r>
              <a:rPr lang="en-US" sz="1400" dirty="0" smtClean="0">
                <a:solidFill>
                  <a:srgbClr val="C9913D"/>
                </a:solidFill>
              </a:rPr>
              <a:t>Overfitting </a:t>
            </a:r>
            <a:r>
              <a:rPr lang="en-US" sz="1400" dirty="0">
                <a:solidFill>
                  <a:srgbClr val="C9913D"/>
                </a:solidFill>
              </a:rPr>
              <a:t>gap shrinks from 0.351 to 0.196. Test recall rises to 74.2% matching M2, but F1 is better (0.673 vs 0.474) — same recall with far less collateral. The tree first splits on customer service calls and total day minutes, confirming the EDA insights.</a:t>
            </a:r>
          </a:p>
        </p:txBody>
      </p:sp>
    </p:spTree>
    <p:extLst>
      <p:ext uri="{BB962C8B-B14F-4D97-AF65-F5344CB8AC3E}">
        <p14:creationId xmlns:p14="http://schemas.microsoft.com/office/powerpoint/2010/main" val="102918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Comparing All Five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Random Forest wins on the metrics that matter most for 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68679"/>
            <a:ext cx="5303520" cy="478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vs Test Recall — How Much Does Each Model Overfit?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0"/>
            <a:ext cx="8686800" cy="3822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868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60720" y="44988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760720" y="4773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4988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858000" y="4773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955280" y="4773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Comparing All Five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65836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Random Forest wins on the metrics that matter most for 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 flipH="1">
            <a:off x="1499879" y="868680"/>
            <a:ext cx="42608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Metrics at Once — Random Forest Leads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33856"/>
            <a:ext cx="7331778" cy="39635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886204" y="1146643"/>
            <a:ext cx="1152243" cy="1222639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0" y="940714"/>
            <a:ext cx="1097280" cy="117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858000" y="-598637"/>
            <a:ext cx="3062252" cy="5143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886205" y="2563937"/>
            <a:ext cx="1170301" cy="1198917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74865" y="-302607"/>
            <a:ext cx="2952261" cy="6446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86206" y="2446776"/>
            <a:ext cx="1005840" cy="1597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924361" y="3953629"/>
            <a:ext cx="1159118" cy="1189871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0" y="2104107"/>
            <a:ext cx="1280160" cy="4151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886205" y="2881347"/>
            <a:ext cx="1280159" cy="3308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5976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What the Numbers Actually Mean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8" y="15087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38528" y="20391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25694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66544" y="25603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0998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528" y="30998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20036" y="761220"/>
            <a:ext cx="75953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 — All Models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1042416"/>
            <a:ext cx="7751293" cy="40039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434840" y="42793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57" y="27228"/>
            <a:ext cx="5463189" cy="4887458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657" y="1036281"/>
            <a:ext cx="3169461" cy="39641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22169" y="84377"/>
            <a:ext cx="32218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Final Model – Confusion </a:t>
            </a:r>
            <a:r>
              <a:rPr lang="en-US" dirty="0" smtClean="0"/>
              <a:t>Matrix: How Predictions Break 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4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626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Explanation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Translating model performance into business 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390" y="1042416"/>
            <a:ext cx="7490036" cy="39900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397764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51560"/>
            <a:ext cx="3749040" cy="811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Plain-English Score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935" y="1941931"/>
            <a:ext cx="62461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08760"/>
            <a:ext cx="1417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72%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7" y="1508760"/>
            <a:ext cx="5472925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every 100 customers who would leave, we catch 72 and can intervene.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22626"/>
            <a:ext cx="73152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039112"/>
            <a:ext cx="1417320" cy="1668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55%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38528" y="2039112"/>
            <a:ext cx="5472924" cy="1604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every 100 customers we flag, roughly 55 are genuine churners.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5987" y="3491821"/>
            <a:ext cx="67205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569464"/>
            <a:ext cx="14173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0.88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38528" y="2569464"/>
            <a:ext cx="56104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Given any churner and non-churner pair, we rank the churner higher 88% of the 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244" y="4143951"/>
            <a:ext cx="73152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099816"/>
            <a:ext cx="1417320" cy="2242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 still missed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527" y="3099815"/>
            <a:ext cx="5163541" cy="2242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can lower this by adjusting the threshold — trading precision for more recall.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34840" y="7612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434840" y="42793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718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Churn? — Feature Importance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reveals which customer behaviours predict departure most strongly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" y="1005840"/>
            <a:ext cx="8768821" cy="34198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434840"/>
            <a:ext cx="8595360" cy="54864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 FEATURES — WHAT THEY MEAN FOR US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4791456"/>
            <a:ext cx="280720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791456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Day Minutes  (0.303)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72968" y="4791456"/>
            <a:ext cx="280720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9"/>
          <p:cNvSpPr/>
          <p:nvPr/>
        </p:nvSpPr>
        <p:spPr>
          <a:xfrm>
            <a:off x="3172968" y="4791456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Svc Calls  (0.229)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71616" y="4791456"/>
            <a:ext cx="280720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1"/>
          <p:cNvSpPr/>
          <p:nvPr/>
        </p:nvSpPr>
        <p:spPr>
          <a:xfrm>
            <a:off x="6071616" y="4791456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Plan  (0.154)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626"/>
            <a:ext cx="9144000" cy="64241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217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41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Churn? — Feature Importance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28770" y="419386"/>
            <a:ext cx="8159198" cy="58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reveals which customer behaviours predict departure most strongly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129" y="814883"/>
            <a:ext cx="9302129" cy="392170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434840"/>
            <a:ext cx="8595360" cy="54864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9" name="Text 5"/>
          <p:cNvSpPr/>
          <p:nvPr/>
        </p:nvSpPr>
        <p:spPr>
          <a:xfrm>
            <a:off x="292608" y="4736592"/>
            <a:ext cx="8577072" cy="137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 FEATURES — WHAT THEY MEAN FOR US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4874508"/>
            <a:ext cx="2798889" cy="268991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791456"/>
            <a:ext cx="2807208" cy="41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Day Minutes  (0.303)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72968" y="4874508"/>
            <a:ext cx="2807208" cy="26899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9"/>
          <p:cNvSpPr/>
          <p:nvPr/>
        </p:nvSpPr>
        <p:spPr>
          <a:xfrm>
            <a:off x="3451344" y="4791456"/>
            <a:ext cx="2528831" cy="41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Svc Calls  (0.229)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71616" y="4874508"/>
            <a:ext cx="2807208" cy="2689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1"/>
          <p:cNvSpPr/>
          <p:nvPr/>
        </p:nvSpPr>
        <p:spPr>
          <a:xfrm>
            <a:off x="6146418" y="4791456"/>
            <a:ext cx="2732406" cy="41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Plan  (0.154)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70124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Three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1261872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91440" cy="126187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493776" cy="493776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70432" y="1005840"/>
            <a:ext cx="1234440" cy="256032"/>
          </a:xfrm>
          <a:prstGeom prst="rect">
            <a:avLst/>
          </a:prstGeom>
          <a:solidFill>
            <a:srgbClr val="C9913D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1005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Action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70432" y="131673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Auto-Flag After the 3rd Service Call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1700784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jumps from ~11% to 46%+ at 4 calls. Route to a senior retention agent before the 4th call happens. Set up a CRM trigger today.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1261872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91440" cy="126187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670048"/>
            <a:ext cx="493776" cy="493776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70432" y="2395728"/>
            <a:ext cx="1234440" cy="256032"/>
          </a:xfrm>
          <a:prstGeom prst="rect">
            <a:avLst/>
          </a:prstGeom>
          <a:solidFill>
            <a:srgbClr val="C9913D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23957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30 Days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70432" y="270662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Cap Loyalty Offer for Heavy Daytime Users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customers above the 75th percentile in day minutes (&gt;216 min/day). Offer a price guarantee — these are your highest-value and highest-risk customers.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75888"/>
            <a:ext cx="8503920" cy="1261872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75888"/>
            <a:ext cx="91440" cy="126187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059936"/>
            <a:ext cx="493776" cy="493776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59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70432" y="3785616"/>
            <a:ext cx="1234440" cy="256032"/>
          </a:xfrm>
          <a:prstGeom prst="rect">
            <a:avLst/>
          </a:prstGeom>
          <a:solidFill>
            <a:srgbClr val="C9913D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70432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60 Days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70432" y="409651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the International Plan + Offer Voicemail as Incentive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70432" y="4480560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 of intl plan holders churn — review pricing vs competitors. Separately: voicemail plan holders churn at just 8.7% vs 16.7% — offer it free as a retention incentive.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— Deployment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from model to measurable business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743200" cy="3904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274320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87552"/>
            <a:ext cx="2743200" cy="65836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82880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647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weekly scoring pipeline to CRM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69748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63347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priority-ranked at-risk customer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56616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5021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operating threshold with retention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987552"/>
            <a:ext cx="2743200" cy="3904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987552"/>
            <a:ext cx="274320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8" name="Shape 16"/>
          <p:cNvSpPr/>
          <p:nvPr/>
        </p:nvSpPr>
        <p:spPr>
          <a:xfrm>
            <a:off x="3218688" y="987552"/>
            <a:ext cx="2743200" cy="65836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1–2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74136" y="182880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1" name="Text 19"/>
          <p:cNvSpPr/>
          <p:nvPr/>
        </p:nvSpPr>
        <p:spPr>
          <a:xfrm>
            <a:off x="3557016" y="17647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A/B test: hold out control group of high-risk customers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74136" y="269748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3" name="Text 21"/>
          <p:cNvSpPr/>
          <p:nvPr/>
        </p:nvSpPr>
        <p:spPr>
          <a:xfrm>
            <a:off x="3557016" y="263347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actual revenue retained vs outreach cost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74136" y="356616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5" name="Text 23"/>
          <p:cNvSpPr/>
          <p:nvPr/>
        </p:nvSpPr>
        <p:spPr>
          <a:xfrm>
            <a:off x="3557016" y="35021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Tune threshold based on team capacity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17336" y="987552"/>
            <a:ext cx="2743200" cy="3904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987552"/>
            <a:ext cx="274320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8" name="Shape 26"/>
          <p:cNvSpPr/>
          <p:nvPr/>
        </p:nvSpPr>
        <p:spPr>
          <a:xfrm>
            <a:off x="6117336" y="987552"/>
            <a:ext cx="2743200" cy="65836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9" name="Text 27"/>
          <p:cNvSpPr/>
          <p:nvPr/>
        </p:nvSpPr>
        <p:spPr>
          <a:xfrm>
            <a:off x="6117336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2784" y="182880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17647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Retrain model on newest data every quarter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2784" y="269748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263347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contract type &amp; demographic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356616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35021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push recall above 80% with richer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limitation: 27.8% of churners are still missed. Richer data and quarterly retraining will close this gap over time.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3" name="BottomBar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itleText"/>
          <p:cNvSpPr/>
          <p:nvPr/>
        </p:nvSpPr>
        <p:spPr>
          <a:xfrm>
            <a:off x="914400" y="64008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</a:rPr>
              <a:t>Thank You</a:t>
            </a:r>
          </a:p>
        </p:txBody>
      </p:sp>
      <p:sp>
        <p:nvSpPr>
          <p:cNvPr id="19" name="Divider"/>
          <p:cNvSpPr/>
          <p:nvPr/>
        </p:nvSpPr>
        <p:spPr>
          <a:xfrm>
            <a:off x="3200400" y="2135000"/>
            <a:ext cx="2743200" cy="381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5" name="Subtitle"/>
          <p:cNvSpPr/>
          <p:nvPr/>
        </p:nvSpPr>
        <p:spPr>
          <a:xfrm>
            <a:off x="914400" y="2210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9913D"/>
                </a:solidFill>
                <a:latin typeface="Trebuchet MS" pitchFamily="34" charset="0"/>
              </a:rPr>
              <a:t>Questions &amp; Discussion</a:t>
            </a:r>
          </a:p>
        </p:txBody>
      </p:sp>
      <p:sp>
        <p:nvSpPr>
          <p:cNvPr id="18" name="FooterText"/>
          <p:cNvSpPr/>
          <p:nvPr/>
        </p:nvSpPr>
        <p:spPr>
          <a:xfrm>
            <a:off x="914400" y="4096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6A8"/>
                </a:solidFill>
                <a:latin typeface="Trebuchet MS" pitchFamily="34" charset="0"/>
              </a:rPr>
              <a:t>Data Science Team  ·  Moringa School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932</Words>
  <Application>Microsoft Office PowerPoint</Application>
  <PresentationFormat>On-screen Show (16:9)</PresentationFormat>
  <Paragraphs>166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</dc:title>
  <dc:subject>PptxGenJS Presentation</dc:subject>
  <dc:creator>PptxGenJS</dc:creator>
  <cp:lastModifiedBy>user</cp:lastModifiedBy>
  <cp:revision>16</cp:revision>
  <dcterms:created xsi:type="dcterms:W3CDTF">2026-05-04T03:47:55Z</dcterms:created>
  <dcterms:modified xsi:type="dcterms:W3CDTF">2026-05-06T04:38:58Z</dcterms:modified>
</cp:coreProperties>
</file>