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77" r:id="rId5"/>
    <p:sldId id="273" r:id="rId6"/>
    <p:sldId id="260" r:id="rId7"/>
    <p:sldId id="261" r:id="rId8"/>
    <p:sldId id="270" r:id="rId9"/>
    <p:sldId id="271" r:id="rId10"/>
    <p:sldId id="264" r:id="rId11"/>
    <p:sldId id="272" r:id="rId12"/>
    <p:sldId id="265" r:id="rId13"/>
    <p:sldId id="274" r:id="rId14"/>
    <p:sldId id="276" r:id="rId15"/>
    <p:sldId id="266" r:id="rId16"/>
    <p:sldId id="275" r:id="rId17"/>
    <p:sldId id="267" r:id="rId18"/>
    <p:sldId id="268" r:id="rId19"/>
    <p:sldId id="278" r:id="rId20"/>
    <p:sldId id="269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6996" autoAdjust="0"/>
  </p:normalViewPr>
  <p:slideViewPr>
    <p:cSldViewPr snapToGrid="0" snapToObjects="1">
      <p:cViewPr varScale="1">
        <p:scale>
          <a:sx n="93" d="100"/>
          <a:sy n="93" d="100"/>
        </p:scale>
        <p:origin x="5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475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9135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824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Final model – confusion matrix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380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858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1819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5" name="Text 2"/>
          <p:cNvSpPr/>
          <p:nvPr/>
        </p:nvSpPr>
        <p:spPr>
          <a:xfrm>
            <a:off x="457199" y="397042"/>
            <a:ext cx="8783053" cy="2358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 </a:t>
            </a:r>
            <a:r>
              <a:rPr lang="en-US" sz="36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Churn Prediction</a:t>
            </a:r>
          </a:p>
          <a:p>
            <a:pPr marL="0" indent="0" algn="l"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Trebuchet MS" pitchFamily="34" charset="0"/>
              </a:rPr>
              <a:t>          </a:t>
            </a:r>
          </a:p>
          <a:p>
            <a:pPr marL="0" indent="0" algn="l"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Trebuchet MS" pitchFamily="34" charset="0"/>
              </a:rPr>
              <a:t>       </a:t>
            </a:r>
            <a:r>
              <a:rPr lang="en-US" sz="3200" b="1" dirty="0" smtClean="0">
                <a:solidFill>
                  <a:srgbClr val="FFFFFF"/>
                </a:solidFill>
                <a:latin typeface="Trebuchet MS" pitchFamily="34" charset="0"/>
              </a:rPr>
              <a:t>presented by : Richard </a:t>
            </a:r>
            <a:r>
              <a:rPr lang="en-US" sz="3200" b="1" dirty="0" err="1" smtClean="0">
                <a:solidFill>
                  <a:srgbClr val="FFFFFF"/>
                </a:solidFill>
                <a:latin typeface="Trebuchet MS" pitchFamily="34" charset="0"/>
              </a:rPr>
              <a:t>Oketch</a:t>
            </a:r>
            <a:endParaRPr lang="en-US" sz="3600" b="1" dirty="0">
              <a:solidFill>
                <a:srgbClr val="FFFFFF"/>
              </a:solidFill>
              <a:latin typeface="Trebuchet MS" pitchFamily="34" charset="0"/>
            </a:endParaRPr>
          </a:p>
          <a:p>
            <a:pPr marL="0" indent="0" algn="l">
              <a:buNone/>
            </a:pPr>
            <a:r>
              <a:rPr lang="en-US" sz="3600" dirty="0" smtClean="0"/>
              <a:t> 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330867" y="2941721"/>
            <a:ext cx="2420033" cy="1716665"/>
          </a:xfrm>
          <a:prstGeom prst="rect">
            <a:avLst/>
          </a:prstGeom>
          <a:solidFill>
            <a:srgbClr val="243A52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3570" y="2504735"/>
            <a:ext cx="2037668" cy="2231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3,333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5326" y="3410712"/>
            <a:ext cx="1369194" cy="1498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Customers Analysed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17141" y="2911642"/>
            <a:ext cx="2595453" cy="1746743"/>
          </a:xfrm>
          <a:prstGeom prst="rect">
            <a:avLst/>
          </a:prstGeom>
          <a:solidFill>
            <a:srgbClr val="243A52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57400" y="2568743"/>
            <a:ext cx="4572000" cy="20114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14.5%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057400" y="3152274"/>
            <a:ext cx="4572000" cy="1756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Churn Rate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78835" y="2911643"/>
            <a:ext cx="2920786" cy="1701504"/>
          </a:xfrm>
          <a:prstGeom prst="rect">
            <a:avLst/>
          </a:prstGeom>
          <a:solidFill>
            <a:srgbClr val="243A52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3994" y="1816768"/>
            <a:ext cx="4141269" cy="33267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Models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666874" y="3152274"/>
            <a:ext cx="4054642" cy="1648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Tested &amp; Compared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243A52"/>
          </a:solidFill>
          <a:ln/>
        </p:spPr>
      </p:sp>
      <p:sp>
        <p:nvSpPr>
          <p:cNvPr id="17" name="Text 14"/>
          <p:cNvSpPr/>
          <p:nvPr/>
        </p:nvSpPr>
        <p:spPr>
          <a:xfrm>
            <a:off x="274320" y="4736592"/>
            <a:ext cx="859536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Science Team  ·  Moringa School  ·  Customer Retention &amp; Marketing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Understanding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Setting the stage — why churn matters and what we set out to solve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2412298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87552"/>
            <a:ext cx="2412298" cy="45719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06070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Opportunity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0896" y="1572768"/>
            <a:ext cx="91440" cy="91440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10" name="Text 8"/>
          <p:cNvSpPr/>
          <p:nvPr/>
        </p:nvSpPr>
        <p:spPr>
          <a:xfrm>
            <a:off x="457199" y="1517904"/>
            <a:ext cx="21209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Acquiring a new customer costs 5–7× more than retaining one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0896" y="2532888"/>
            <a:ext cx="91440" cy="91440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199" y="2478024"/>
            <a:ext cx="2038493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 1% churn reduction = meaningful recurring revenue gain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0896" y="3493008"/>
            <a:ext cx="91440" cy="91440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438144"/>
            <a:ext cx="20384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Proactive outreach is far cheaper than win-back campaigns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27590" y="1033270"/>
            <a:ext cx="2495693" cy="3597889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27590" y="973561"/>
            <a:ext cx="2495694" cy="5971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3691976" y="1060704"/>
            <a:ext cx="123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51447" y="1668780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3623224" y="1517904"/>
            <a:ext cx="184942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14.5% of customers leave each year (~483 annually)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46634" y="2624328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3623224" y="2478024"/>
            <a:ext cx="194113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only know a customer churned after it's too late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37800" y="3493008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 flipH="1">
            <a:off x="3623224" y="3438144"/>
            <a:ext cx="184942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system exists to identify at-risk customers early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16578" y="973560"/>
            <a:ext cx="2607966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16578" y="973560"/>
            <a:ext cx="2607966" cy="59711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6" name="Text 24"/>
          <p:cNvSpPr/>
          <p:nvPr/>
        </p:nvSpPr>
        <p:spPr>
          <a:xfrm flipH="1">
            <a:off x="7060818" y="1037844"/>
            <a:ext cx="1430038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4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Goal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55526" y="1662971"/>
            <a:ext cx="89652" cy="77277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8" name="Text 26"/>
          <p:cNvSpPr/>
          <p:nvPr/>
        </p:nvSpPr>
        <p:spPr>
          <a:xfrm>
            <a:off x="6545178" y="1517904"/>
            <a:ext cx="2342789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an AI model to score every customer weekly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53738" y="2532888"/>
            <a:ext cx="91440" cy="9144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30" name="Text 28"/>
          <p:cNvSpPr/>
          <p:nvPr/>
        </p:nvSpPr>
        <p:spPr>
          <a:xfrm>
            <a:off x="6545178" y="2478024"/>
            <a:ext cx="2342789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Flag high-risk customers before they decide to leave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88044" y="3493008"/>
            <a:ext cx="91440" cy="9144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32" name="Text 30"/>
          <p:cNvSpPr/>
          <p:nvPr/>
        </p:nvSpPr>
        <p:spPr>
          <a:xfrm>
            <a:off x="6545178" y="3438144"/>
            <a:ext cx="23427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 the retention team a prioritised call list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120640" y="107899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120640" y="4078224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Understanding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3,333 customers · 21 features · one clear target: did they leave?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960120"/>
            <a:ext cx="2084832" cy="66751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2103120" cy="50292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98755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3,333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92608" y="1252728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37944"/>
            <a:ext cx="21031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37943"/>
            <a:ext cx="2103120" cy="64009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709928"/>
            <a:ext cx="210312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74320" y="1828800"/>
            <a:ext cx="21031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Churned (14.5%)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" y="2706624"/>
            <a:ext cx="2084831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06624"/>
            <a:ext cx="2103120" cy="45719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478024"/>
            <a:ext cx="2103120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 smtClean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16568" y="2670048"/>
            <a:ext cx="2160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 Analysed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529584"/>
            <a:ext cx="2103120" cy="6080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 flipV="1">
            <a:off x="274320" y="3520438"/>
            <a:ext cx="2103120" cy="6401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593594"/>
            <a:ext cx="2103120" cy="466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74320" y="3557016"/>
            <a:ext cx="210312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Values</a:t>
            </a:r>
            <a:endParaRPr lang="en-US" sz="11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987552"/>
            <a:ext cx="6236208" cy="385876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355080" y="10058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510528" y="143560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510528" y="202996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510528" y="2624328"/>
            <a:ext cx="2331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 Preparation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3" name="Title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</a:rPr>
              <a:t>Data Preparation</a:t>
            </a:r>
          </a:p>
        </p:txBody>
      </p:sp>
      <p:sp>
        <p:nvSpPr>
          <p:cNvPr id="4" name="Subtitle"/>
          <p:cNvSpPr/>
          <p:nvPr/>
        </p:nvSpPr>
        <p:spPr>
          <a:xfrm>
            <a:off x="274320" y="749808"/>
            <a:ext cx="8595360" cy="3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4F0"/>
                </a:solidFill>
                <a:latin typeface="Trebuchet MS" pitchFamily="34" charset="0"/>
              </a:rPr>
              <a:t>Cleaning and shaping the dataset — what was kept, dropped, and why</a:t>
            </a:r>
          </a:p>
        </p:txBody>
      </p:sp>
      <p:sp>
        <p:nvSpPr>
          <p:cNvPr id="5" name="CardLeft"/>
          <p:cNvSpPr/>
          <p:nvPr/>
        </p:nvSpPr>
        <p:spPr>
          <a:xfrm>
            <a:off x="320040" y="1150000"/>
            <a:ext cx="4051440" cy="3650000"/>
          </a:xfrm>
          <a:prstGeom prst="rect">
            <a:avLst/>
          </a:prstGeom>
          <a:solidFill>
            <a:srgbClr val="243A52"/>
          </a:solidFill>
          <a:ln/>
        </p:spPr>
      </p:sp>
      <p:sp>
        <p:nvSpPr>
          <p:cNvPr id="6" name="AccentLeft"/>
          <p:cNvSpPr/>
          <p:nvPr/>
        </p:nvSpPr>
        <p:spPr>
          <a:xfrm>
            <a:off x="320040" y="1150000"/>
            <a:ext cx="91440" cy="365000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7" name="LeftText"/>
          <p:cNvSpPr/>
          <p:nvPr/>
        </p:nvSpPr>
        <p:spPr>
          <a:xfrm>
            <a:off x="503520" y="1200000"/>
            <a:ext cx="3750000" cy="35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9913D"/>
                </a:solidFill>
                <a:latin typeface="Trebuchet MS" pitchFamily="34" charset="0"/>
              </a:rPr>
              <a:t>7 Columns Dropped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  <a:latin typeface="Trebuchet MS"/>
              </a:rPr>
              <a:t>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C9913D"/>
                </a:solidFill>
                <a:latin typeface="Trebuchet MS" pitchFamily="34" charset="0"/>
              </a:rPr>
              <a:t>phone number / state / area code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F5F4F0"/>
                </a:solidFill>
                <a:latin typeface="Trebuchet MS" pitchFamily="34" charset="0"/>
              </a:rPr>
              <a:t>Unique identifiers — no predictive signal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  <a:latin typeface="Trebuchet MS"/>
              </a:rPr>
              <a:t>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C9913D"/>
                </a:solidFill>
                <a:latin typeface="Trebuchet MS" pitchFamily="34" charset="0"/>
              </a:rPr>
              <a:t>4 charge columns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F5F4F0"/>
                </a:solidFill>
                <a:latin typeface="Trebuchet MS" pitchFamily="34" charset="0"/>
              </a:rPr>
              <a:t>Pearson r = 1.00 with minute columns — perfectly collinear, add no new information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  <a:latin typeface="Trebuchet MS"/>
              </a:rPr>
              <a:t>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C9913D"/>
                </a:solidFill>
                <a:latin typeface="Trebuchet MS" pitchFamily="34" charset="0"/>
              </a:rPr>
              <a:t>21 features → 14 features</a:t>
            </a:r>
          </a:p>
        </p:txBody>
      </p:sp>
      <p:sp>
        <p:nvSpPr>
          <p:cNvPr id="8" name="CardRight"/>
          <p:cNvSpPr/>
          <p:nvPr/>
        </p:nvSpPr>
        <p:spPr>
          <a:xfrm>
            <a:off x="4680480" y="1150000"/>
            <a:ext cx="4143480" cy="3650000"/>
          </a:xfrm>
          <a:prstGeom prst="rect">
            <a:avLst/>
          </a:prstGeom>
          <a:solidFill>
            <a:srgbClr val="243A52"/>
          </a:solidFill>
          <a:ln/>
        </p:spPr>
      </p:sp>
      <p:sp>
        <p:nvSpPr>
          <p:cNvPr id="9" name="AccentRight"/>
          <p:cNvSpPr/>
          <p:nvPr/>
        </p:nvSpPr>
        <p:spPr>
          <a:xfrm>
            <a:off x="4680480" y="1150000"/>
            <a:ext cx="91440" cy="365000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0" name="RightText"/>
          <p:cNvSpPr/>
          <p:nvPr/>
        </p:nvSpPr>
        <p:spPr>
          <a:xfrm>
            <a:off x="4863960" y="1200000"/>
            <a:ext cx="3840000" cy="35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9913D"/>
                </a:solidFill>
                <a:latin typeface="Trebuchet MS" pitchFamily="34" charset="0"/>
              </a:rPr>
              <a:t>Encoding, Scaling &amp; Split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  <a:latin typeface="Trebuchet MS"/>
              </a:rPr>
              <a:t>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C9913D"/>
                </a:solidFill>
                <a:latin typeface="Trebuchet MS" pitchFamily="34" charset="0"/>
              </a:rPr>
              <a:t>Binary encoding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F5F4F0"/>
                </a:solidFill>
                <a:latin typeface="Trebuchet MS" pitchFamily="34" charset="0"/>
              </a:rPr>
              <a:t>international plan, voice mail plan, churn converted to 0/1 integers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  <a:latin typeface="Trebuchet MS"/>
              </a:rPr>
              <a:t>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C9913D"/>
                </a:solidFill>
                <a:latin typeface="Trebuchet MS" pitchFamily="34" charset="0"/>
              </a:rPr>
              <a:t>StandardScaler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F5F4F0"/>
                </a:solidFill>
                <a:latin typeface="Trebuchet MS" pitchFamily="34" charset="0"/>
              </a:rPr>
              <a:t>Fitted on train only — prevents test data leaking into model training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  <a:latin typeface="Trebuchet MS"/>
              </a:rPr>
              <a:t>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C9913D"/>
                </a:solidFill>
                <a:latin typeface="Trebuchet MS" pitchFamily="34" charset="0"/>
              </a:rPr>
              <a:t>80/20 stratified split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F5F4F0"/>
                </a:solidFill>
                <a:latin typeface="Trebuchet MS" pitchFamily="34" charset="0"/>
              </a:rPr>
              <a:t>2,666 train / 667 test — 14.5% churn rate preserved in both sets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  <a:latin typeface="Trebuchet MS"/>
              </a:rPr>
              <a:t>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C9913D"/>
                </a:solidFill>
                <a:latin typeface="Trebuchet MS" pitchFamily="34" charset="0"/>
              </a:rPr>
              <a:t>Zero missing values — no imputation needed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81883"/>
            <a:ext cx="6807124" cy="471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62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Finding — The Service Call Signal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single strongest early warning sign of a customer about to leave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987552"/>
            <a:ext cx="6294531" cy="3995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60292" y="868680"/>
            <a:ext cx="2255108" cy="4114800"/>
          </a:xfrm>
          <a:prstGeom prst="rect">
            <a:avLst/>
          </a:prstGeom>
          <a:solidFill>
            <a:srgbClr val="243A52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29848" y="987552"/>
            <a:ext cx="169411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60292" y="1481328"/>
            <a:ext cx="2163668" cy="1051560"/>
          </a:xfrm>
          <a:prstGeom prst="rect">
            <a:avLst/>
          </a:prstGeom>
          <a:solidFill>
            <a:srgbClr val="243A52"/>
          </a:solidFill>
          <a:ln/>
        </p:spPr>
      </p:sp>
      <p:sp>
        <p:nvSpPr>
          <p:cNvPr id="10" name="Text 7"/>
          <p:cNvSpPr/>
          <p:nvPr/>
        </p:nvSpPr>
        <p:spPr>
          <a:xfrm>
            <a:off x="6709720" y="1527048"/>
            <a:ext cx="2114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~11%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919784" y="2002536"/>
            <a:ext cx="1904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 rate for customers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0–3 service calls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660292" y="2715768"/>
            <a:ext cx="2163668" cy="1051560"/>
          </a:xfrm>
          <a:prstGeom prst="rect">
            <a:avLst/>
          </a:prstGeom>
          <a:solidFill>
            <a:srgbClr val="243A52"/>
          </a:solidFill>
          <a:ln/>
        </p:spPr>
      </p:sp>
      <p:sp>
        <p:nvSpPr>
          <p:cNvPr id="13" name="Text 10"/>
          <p:cNvSpPr/>
          <p:nvPr/>
        </p:nvSpPr>
        <p:spPr>
          <a:xfrm>
            <a:off x="6919784" y="2761488"/>
            <a:ext cx="1904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46–100%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030994" y="3236976"/>
            <a:ext cx="179296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 rate for customers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4+ service calls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265772" y="4041648"/>
            <a:ext cx="15581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Implication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02394" y="4315968"/>
            <a:ext cx="202156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a customer's 3rd call, route them immediately to a senior retention agent — before they decide to leave.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Finding — Usage Patterns Drive Churn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Heavy daytime callers face higher bills — and are more likely to leave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85" y="1042416"/>
            <a:ext cx="6948658" cy="38953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48383" y="928116"/>
            <a:ext cx="1830529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48384" y="914400"/>
            <a:ext cx="1830528" cy="45719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9" name="Text 6"/>
          <p:cNvSpPr/>
          <p:nvPr/>
        </p:nvSpPr>
        <p:spPr>
          <a:xfrm>
            <a:off x="7475838" y="1005840"/>
            <a:ext cx="13206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Minutes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52270" y="1353312"/>
            <a:ext cx="14442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Churners avg </a:t>
            </a: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207 min/day</a:t>
            </a: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vs 175 for retained — higher usage = higher bills = price pressure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48384" y="2907792"/>
            <a:ext cx="1830528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48384" y="2907792"/>
            <a:ext cx="1830528" cy="50292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3" name="Text 10"/>
          <p:cNvSpPr/>
          <p:nvPr/>
        </p:nvSpPr>
        <p:spPr>
          <a:xfrm>
            <a:off x="7414054" y="2999232"/>
            <a:ext cx="138247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Night &amp; Evening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14054" y="3355848"/>
            <a:ext cx="138247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Night and evening minutes show very similar distributions between churned and retained — these are weaker predictors.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732242" y="-53661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Modeling Approach — Five Models Tested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8377" y="749807"/>
            <a:ext cx="8595360" cy="1059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tried increasingly powerful approaches until we found the best one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1841561"/>
            <a:ext cx="1581912" cy="287516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841561"/>
            <a:ext cx="1581912" cy="81441"/>
          </a:xfrm>
          <a:prstGeom prst="rect">
            <a:avLst/>
          </a:prstGeom>
          <a:solidFill>
            <a:srgbClr val="8896A8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024128"/>
            <a:ext cx="1581912" cy="21269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1417320"/>
            <a:ext cx="15819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(Baseline)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2103120"/>
            <a:ext cx="1581912" cy="243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 but only 25% recall — missed most churners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93392" y="1923002"/>
            <a:ext cx="1581912" cy="279372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1832088"/>
            <a:ext cx="1581912" cy="90914"/>
          </a:xfrm>
          <a:prstGeom prst="rect">
            <a:avLst/>
          </a:prstGeom>
          <a:solidFill>
            <a:srgbClr val="8896A8"/>
          </a:solidFill>
          <a:ln/>
        </p:spPr>
      </p:sp>
      <p:sp>
        <p:nvSpPr>
          <p:cNvPr id="13" name="Text 11"/>
          <p:cNvSpPr/>
          <p:nvPr/>
        </p:nvSpPr>
        <p:spPr>
          <a:xfrm>
            <a:off x="1993392" y="1024128"/>
            <a:ext cx="1581912" cy="21269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93392" y="1417320"/>
            <a:ext cx="158191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(Tuned)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993392" y="2103119"/>
            <a:ext cx="1581912" cy="2330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Better: 74% recall, but poor at precision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12464" y="1923002"/>
            <a:ext cx="1581912" cy="279372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12464" y="1820248"/>
            <a:ext cx="1581912" cy="102754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8" name="Text 16"/>
          <p:cNvSpPr/>
          <p:nvPr/>
        </p:nvSpPr>
        <p:spPr>
          <a:xfrm>
            <a:off x="3712464" y="1024128"/>
            <a:ext cx="1581912" cy="21269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12464" y="1417320"/>
            <a:ext cx="1581912" cy="23235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Tree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(Baseline)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712464" y="2103120"/>
            <a:ext cx="1581912" cy="2330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Memorised training data — overfit badly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31536" y="1923002"/>
            <a:ext cx="1581912" cy="279372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31536" y="1820248"/>
            <a:ext cx="1581912" cy="102753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23" name="Text 21"/>
          <p:cNvSpPr/>
          <p:nvPr/>
        </p:nvSpPr>
        <p:spPr>
          <a:xfrm>
            <a:off x="5431536" y="1039390"/>
            <a:ext cx="1581912" cy="2111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31536" y="1417320"/>
            <a:ext cx="1581912" cy="23235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Tree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(Tuned)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31536" y="2103120"/>
            <a:ext cx="1581912" cy="243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74% recall, better balance — but still overfit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50608" y="1788540"/>
            <a:ext cx="1581912" cy="2928184"/>
          </a:xfrm>
          <a:prstGeom prst="rect">
            <a:avLst/>
          </a:prstGeom>
          <a:solidFill>
            <a:srgbClr val="0D1B2A"/>
          </a:solidFill>
          <a:ln w="12700">
            <a:solidFill>
              <a:srgbClr val="C9913D"/>
            </a:solidFill>
            <a:prstDash val="solid"/>
          </a:ln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50608" y="1788540"/>
            <a:ext cx="1581912" cy="105255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28" name="Text 26"/>
          <p:cNvSpPr/>
          <p:nvPr/>
        </p:nvSpPr>
        <p:spPr>
          <a:xfrm>
            <a:off x="7150608" y="1024128"/>
            <a:ext cx="1581912" cy="2179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150608" y="1251740"/>
            <a:ext cx="1581912" cy="266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FINAL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50608" y="2103120"/>
            <a:ext cx="1581912" cy="243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generalisation, highest AUC (0.88), most reliable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" y="39502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76650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09" y="546009"/>
            <a:ext cx="5971238" cy="44535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32892"/>
            <a:ext cx="9144000" cy="55916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r>
              <a:rPr lang="en-US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    Model - Decision tree(Tuned) 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hape 4"/>
          <p:cNvSpPr/>
          <p:nvPr/>
        </p:nvSpPr>
        <p:spPr>
          <a:xfrm>
            <a:off x="6660292" y="868680"/>
            <a:ext cx="2255108" cy="4114800"/>
          </a:xfrm>
          <a:prstGeom prst="rect">
            <a:avLst/>
          </a:prstGeom>
          <a:solidFill>
            <a:srgbClr val="243A52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5" name="Rectangle 4"/>
          <p:cNvSpPr/>
          <p:nvPr/>
        </p:nvSpPr>
        <p:spPr>
          <a:xfrm flipH="1">
            <a:off x="6857996" y="1151223"/>
            <a:ext cx="183209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C9913D"/>
                </a:solidFill>
              </a:rPr>
              <a:t>Interpretation</a:t>
            </a:r>
            <a:br>
              <a:rPr lang="en-US" sz="1400" dirty="0" smtClean="0">
                <a:solidFill>
                  <a:srgbClr val="C9913D"/>
                </a:solidFill>
              </a:rPr>
            </a:br>
            <a:r>
              <a:rPr lang="en-US" sz="1400" dirty="0" smtClean="0">
                <a:solidFill>
                  <a:srgbClr val="C9913D"/>
                </a:solidFill>
              </a:rPr>
              <a:t>Overfitting </a:t>
            </a:r>
            <a:r>
              <a:rPr lang="en-US" sz="1400" dirty="0">
                <a:solidFill>
                  <a:srgbClr val="C9913D"/>
                </a:solidFill>
              </a:rPr>
              <a:t>gap shrinks from 0.351 to 0.196. Test recall rises to 74.2% matching M2, but F1 is better (0.673 vs 0.474) — same recall with far less collateral. The tree first splits on customer service calls and total day minutes, confirming the EDA insights.</a:t>
            </a:r>
          </a:p>
        </p:txBody>
      </p:sp>
    </p:spTree>
    <p:extLst>
      <p:ext uri="{BB962C8B-B14F-4D97-AF65-F5344CB8AC3E}">
        <p14:creationId xmlns:p14="http://schemas.microsoft.com/office/powerpoint/2010/main" val="1029189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Evaluation — Comparing All Five Models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Random Forest wins on the metrics that matter most for business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868679"/>
            <a:ext cx="5303520" cy="478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vs Test Recall — How Much Does Each Model Overfit?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80160"/>
            <a:ext cx="8686800" cy="3822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60720" y="8686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760720" y="4498848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760720" y="47731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858000" y="4498848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858000" y="47731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955280" y="477316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Evaluation — Comparing All Five Models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" y="65836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Random Forest wins on the metrics that matter most for business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 flipH="1">
            <a:off x="1499879" y="868680"/>
            <a:ext cx="426084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Metrics at Once — Random Forest Leads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133856"/>
            <a:ext cx="7331778" cy="396356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886204" y="1146643"/>
            <a:ext cx="1152243" cy="1222639"/>
          </a:xfrm>
          <a:prstGeom prst="rect">
            <a:avLst/>
          </a:prstGeom>
          <a:solidFill>
            <a:srgbClr val="0D1B2A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863840" y="940714"/>
            <a:ext cx="1097280" cy="117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72%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858000" y="-598637"/>
            <a:ext cx="3062252" cy="51431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886205" y="2563937"/>
            <a:ext cx="1170301" cy="1198917"/>
          </a:xfrm>
          <a:prstGeom prst="rect">
            <a:avLst/>
          </a:prstGeom>
          <a:solidFill>
            <a:srgbClr val="0D1B2A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974865" y="-302607"/>
            <a:ext cx="2952261" cy="6446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0.88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886206" y="2446776"/>
            <a:ext cx="1005840" cy="15979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7924361" y="3953629"/>
            <a:ext cx="1159118" cy="1189871"/>
          </a:xfrm>
          <a:prstGeom prst="rect">
            <a:avLst/>
          </a:prstGeom>
          <a:solidFill>
            <a:srgbClr val="0D1B2A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863840" y="2104107"/>
            <a:ext cx="1280160" cy="4151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55%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7886205" y="2881347"/>
            <a:ext cx="1280159" cy="3308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59760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Evaluation — What the Numbers Actually Mean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51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5087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38528" y="15087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38528" y="203911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" y="2569464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66544" y="25603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" y="3099816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38528" y="3099816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36758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320036" y="761220"/>
            <a:ext cx="75953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ROC Curve — All Models</a:t>
            </a:r>
            <a:endParaRPr lang="en-US" sz="11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" y="1042416"/>
            <a:ext cx="7751293" cy="400397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434840" y="427939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57" y="27228"/>
            <a:ext cx="5463189" cy="4887458"/>
          </a:xfrm>
          <a:prstGeom prst="rect">
            <a:avLst/>
          </a:prstGeom>
        </p:spPr>
      </p:pic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7657" y="1036281"/>
            <a:ext cx="3169461" cy="396412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22169" y="84377"/>
            <a:ext cx="32218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Final Model – Confusion </a:t>
            </a:r>
            <a:r>
              <a:rPr lang="en-US" dirty="0" smtClean="0"/>
              <a:t>Matrix: How Predictions Break Down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47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0626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Evaluation </a:t>
            </a:r>
            <a:r>
              <a:rPr lang="en-US" sz="24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Explanation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Translating model performance into business outcomes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390" y="1042416"/>
            <a:ext cx="7490036" cy="39900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3977640" cy="50292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51560"/>
            <a:ext cx="3749040" cy="8114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Plain-English Score Summary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5935" y="1941931"/>
            <a:ext cx="62461" cy="384048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508760"/>
            <a:ext cx="141732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 72%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38527" y="1508760"/>
            <a:ext cx="5472925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every 100 customers who would leave, we catch 72 and can intervene.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722626"/>
            <a:ext cx="73152" cy="384048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039112"/>
            <a:ext cx="1417320" cy="1668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 55%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38528" y="2039112"/>
            <a:ext cx="5472924" cy="1604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every 100 customers we flag, roughly 55 are genuine churners.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5987" y="3491821"/>
            <a:ext cx="67205" cy="384048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569464"/>
            <a:ext cx="14173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 0.88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38528" y="2569464"/>
            <a:ext cx="56104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Given any churner and non-churner pair, we rank the churner higher 88% of the time.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244" y="4143951"/>
            <a:ext cx="73152" cy="384048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3099816"/>
            <a:ext cx="1417320" cy="2242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28% still missed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38527" y="3099815"/>
            <a:ext cx="5163541" cy="2242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can lower this by adjusting the threshold — trading precision for more recall.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36758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434840" y="7612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434840" y="427939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87183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Drives Churn? — Feature Importance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reveals which customer behaviours predict departure most strongly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6" y="1005840"/>
            <a:ext cx="8768821" cy="341985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4434840"/>
            <a:ext cx="8595360" cy="54864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9" name="Text 5"/>
          <p:cNvSpPr/>
          <p:nvPr/>
        </p:nvSpPr>
        <p:spPr>
          <a:xfrm>
            <a:off x="274320" y="461772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3 FEATURES — WHAT THEY MEAN FOR US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4791456"/>
            <a:ext cx="2807208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7"/>
          <p:cNvSpPr/>
          <p:nvPr/>
        </p:nvSpPr>
        <p:spPr>
          <a:xfrm>
            <a:off x="274320" y="4791456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Day Minutes  (0.303)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172968" y="4791456"/>
            <a:ext cx="2807208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9"/>
          <p:cNvSpPr/>
          <p:nvPr/>
        </p:nvSpPr>
        <p:spPr>
          <a:xfrm>
            <a:off x="3172968" y="4791456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Svc Calls  (0.229)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71616" y="4791456"/>
            <a:ext cx="2807208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1"/>
          <p:cNvSpPr/>
          <p:nvPr/>
        </p:nvSpPr>
        <p:spPr>
          <a:xfrm>
            <a:off x="6071616" y="4791456"/>
            <a:ext cx="280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International Plan  (0.154)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0626"/>
            <a:ext cx="9144000" cy="64241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21792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419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Drives Churn? — Feature Importance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28770" y="419386"/>
            <a:ext cx="8159198" cy="581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reveals which customer behaviours predict departure most strongly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129" y="814883"/>
            <a:ext cx="9302129" cy="392170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4434840"/>
            <a:ext cx="8595360" cy="54864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9" name="Text 5"/>
          <p:cNvSpPr/>
          <p:nvPr/>
        </p:nvSpPr>
        <p:spPr>
          <a:xfrm>
            <a:off x="292608" y="4736592"/>
            <a:ext cx="8577072" cy="1379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3 FEATURES — WHAT THEY MEAN FOR US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74320" y="4874508"/>
            <a:ext cx="2798889" cy="268991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7"/>
          <p:cNvSpPr/>
          <p:nvPr/>
        </p:nvSpPr>
        <p:spPr>
          <a:xfrm>
            <a:off x="274320" y="4791456"/>
            <a:ext cx="2807208" cy="419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Day Minutes  (0.303)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172968" y="4874508"/>
            <a:ext cx="2807208" cy="26899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9"/>
          <p:cNvSpPr/>
          <p:nvPr/>
        </p:nvSpPr>
        <p:spPr>
          <a:xfrm>
            <a:off x="3451344" y="4791456"/>
            <a:ext cx="2528831" cy="419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Svc Calls  (0.229)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71616" y="4874508"/>
            <a:ext cx="2807208" cy="26899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1"/>
          <p:cNvSpPr/>
          <p:nvPr/>
        </p:nvSpPr>
        <p:spPr>
          <a:xfrm>
            <a:off x="6146418" y="4791456"/>
            <a:ext cx="2732406" cy="419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International Plan  (0.154)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70124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Three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1261872"/>
          </a:xfrm>
          <a:prstGeom prst="rect">
            <a:avLst/>
          </a:prstGeom>
          <a:solidFill>
            <a:srgbClr val="243A52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96112"/>
            <a:ext cx="91440" cy="1261872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280160"/>
            <a:ext cx="493776" cy="493776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801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70432" y="1005840"/>
            <a:ext cx="1234440" cy="256032"/>
          </a:xfrm>
          <a:prstGeom prst="rect">
            <a:avLst/>
          </a:prstGeom>
          <a:solidFill>
            <a:srgbClr val="C9913D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10058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Immediate Action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70432" y="1316736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Auto-Flag After the 3rd Service Call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70432" y="1700784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 rate jumps from ~11% to 46%+ at 4 calls. Route to a senior retention agent before the 4th call happens. Set up a CRM trigger today.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8503920" cy="1261872"/>
          </a:xfrm>
          <a:prstGeom prst="rect">
            <a:avLst/>
          </a:prstGeom>
          <a:solidFill>
            <a:srgbClr val="243A52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86000"/>
            <a:ext cx="91440" cy="1261872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2670048"/>
            <a:ext cx="493776" cy="493776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700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70432" y="2395728"/>
            <a:ext cx="1234440" cy="256032"/>
          </a:xfrm>
          <a:prstGeom prst="rect">
            <a:avLst/>
          </a:prstGeom>
          <a:solidFill>
            <a:srgbClr val="C9913D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70432" y="23957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Within 30 Days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70432" y="2706624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Cap Loyalty Offer for Heavy Daytime Users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70432" y="3090672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Flag customers above the 75th percentile in day minutes (&gt;216 min/day). Offer a price guarantee — these are your highest-value and highest-risk customers.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675888"/>
            <a:ext cx="8503920" cy="1261872"/>
          </a:xfrm>
          <a:prstGeom prst="rect">
            <a:avLst/>
          </a:prstGeom>
          <a:solidFill>
            <a:srgbClr val="243A52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675888"/>
            <a:ext cx="91440" cy="1261872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4059936"/>
            <a:ext cx="493776" cy="493776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0599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170432" y="3785616"/>
            <a:ext cx="1234440" cy="256032"/>
          </a:xfrm>
          <a:prstGeom prst="rect">
            <a:avLst/>
          </a:prstGeom>
          <a:solidFill>
            <a:srgbClr val="C9913D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170432" y="37856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Within 60 Days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70432" y="4096512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the International Plan + Offer Voicemail as Incentive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70432" y="4480560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42% of intl plan holders churn — review pricing vs competitors. Separately: voicemail plan holders churn at just 8.7% vs 16.7% — offer it free as a retention incentive.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 — Deployment Roadmap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Moving from model to measurable business impact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2743200" cy="3904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2743200" cy="50292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987552"/>
            <a:ext cx="2743200" cy="658368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98755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Weeks 1–2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1828800"/>
            <a:ext cx="109728" cy="109728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76479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weekly scoring pipeline to CRM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2697480"/>
            <a:ext cx="109728" cy="109728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63347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priority-ranked at-risk customer list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3566160"/>
            <a:ext cx="109728" cy="109728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50215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operating threshold with retention team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18688" y="987552"/>
            <a:ext cx="2743200" cy="3904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987552"/>
            <a:ext cx="2743200" cy="50292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8" name="Shape 16"/>
          <p:cNvSpPr/>
          <p:nvPr/>
        </p:nvSpPr>
        <p:spPr>
          <a:xfrm>
            <a:off x="3218688" y="987552"/>
            <a:ext cx="2743200" cy="658368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9" name="Text 17"/>
          <p:cNvSpPr/>
          <p:nvPr/>
        </p:nvSpPr>
        <p:spPr>
          <a:xfrm>
            <a:off x="3218688" y="98755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 1–2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74136" y="1828800"/>
            <a:ext cx="109728" cy="109728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21" name="Text 19"/>
          <p:cNvSpPr/>
          <p:nvPr/>
        </p:nvSpPr>
        <p:spPr>
          <a:xfrm>
            <a:off x="3557016" y="176479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A/B test: hold out control group of high-risk customers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74136" y="2697480"/>
            <a:ext cx="109728" cy="109728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23" name="Text 21"/>
          <p:cNvSpPr/>
          <p:nvPr/>
        </p:nvSpPr>
        <p:spPr>
          <a:xfrm>
            <a:off x="3557016" y="263347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 actual revenue retained vs outreach cost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74136" y="3566160"/>
            <a:ext cx="109728" cy="109728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25" name="Text 23"/>
          <p:cNvSpPr/>
          <p:nvPr/>
        </p:nvSpPr>
        <p:spPr>
          <a:xfrm>
            <a:off x="3557016" y="350215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Tune threshold based on team capacity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17336" y="987552"/>
            <a:ext cx="2743200" cy="39044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D1B2A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17336" y="987552"/>
            <a:ext cx="2743200" cy="50292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28" name="Shape 26"/>
          <p:cNvSpPr/>
          <p:nvPr/>
        </p:nvSpPr>
        <p:spPr>
          <a:xfrm>
            <a:off x="6117336" y="987552"/>
            <a:ext cx="2743200" cy="658368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29" name="Text 27"/>
          <p:cNvSpPr/>
          <p:nvPr/>
        </p:nvSpPr>
        <p:spPr>
          <a:xfrm>
            <a:off x="6117336" y="98755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72784" y="1828800"/>
            <a:ext cx="109728" cy="109728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31" name="Text 29"/>
          <p:cNvSpPr/>
          <p:nvPr/>
        </p:nvSpPr>
        <p:spPr>
          <a:xfrm>
            <a:off x="6455664" y="176479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Retrain model on newest data every quarter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72784" y="2697480"/>
            <a:ext cx="109728" cy="109728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33" name="Text 31"/>
          <p:cNvSpPr/>
          <p:nvPr/>
        </p:nvSpPr>
        <p:spPr>
          <a:xfrm>
            <a:off x="6455664" y="263347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contract type &amp; demographic features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72784" y="3566160"/>
            <a:ext cx="109728" cy="109728"/>
          </a:xfrm>
          <a:prstGeom prst="ellipse">
            <a:avLst/>
          </a:prstGeom>
          <a:solidFill>
            <a:srgbClr val="C9913D"/>
          </a:solidFill>
          <a:ln/>
        </p:spPr>
      </p:sp>
      <p:sp>
        <p:nvSpPr>
          <p:cNvPr id="35" name="Text 33"/>
          <p:cNvSpPr/>
          <p:nvPr/>
        </p:nvSpPr>
        <p:spPr>
          <a:xfrm>
            <a:off x="6455664" y="350215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Target: push recall above 80% with richer data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754880"/>
            <a:ext cx="8503920" cy="2926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limitation: 27.8% of churners are still missed. Richer data and quarterly retraining will close this gap over time.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el Limitations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3" name="Title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Trebuchet MS" pitchFamily="34" charset="0"/>
              </a:rPr>
              <a:t>Model Limitations &amp; Honest Assessment</a:t>
            </a:r>
          </a:p>
        </p:txBody>
      </p:sp>
      <p:sp>
        <p:nvSpPr>
          <p:cNvPr id="4" name="Subtitle"/>
          <p:cNvSpPr/>
          <p:nvPr/>
        </p:nvSpPr>
        <p:spPr>
          <a:xfrm>
            <a:off x="274320" y="749808"/>
            <a:ext cx="8595360" cy="3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4F0"/>
                </a:solidFill>
                <a:latin typeface="Trebuchet MS" pitchFamily="34" charset="0"/>
              </a:rPr>
              <a:t>What the model gets wrong — and how we plan to close the gaps</a:t>
            </a:r>
          </a:p>
        </p:txBody>
      </p:sp>
      <p:sp>
        <p:nvSpPr>
          <p:cNvPr id="5" name="Card1"/>
          <p:cNvSpPr/>
          <p:nvPr/>
        </p:nvSpPr>
        <p:spPr>
          <a:xfrm>
            <a:off x="320040" y="1150000"/>
            <a:ext cx="4051440" cy="1550000"/>
          </a:xfrm>
          <a:prstGeom prst="rect">
            <a:avLst/>
          </a:prstGeom>
          <a:solidFill>
            <a:srgbClr val="243A52"/>
          </a:solidFill>
          <a:ln/>
        </p:spPr>
      </p:sp>
      <p:sp>
        <p:nvSpPr>
          <p:cNvPr id="6" name="Accent1"/>
          <p:cNvSpPr/>
          <p:nvPr/>
        </p:nvSpPr>
        <p:spPr>
          <a:xfrm>
            <a:off x="320040" y="1150000"/>
            <a:ext cx="91440" cy="155000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7" name="Card1Text"/>
          <p:cNvSpPr/>
          <p:nvPr/>
        </p:nvSpPr>
        <p:spPr>
          <a:xfrm>
            <a:off x="503520" y="1190000"/>
            <a:ext cx="3750000" cy="14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9913D"/>
                </a:solidFill>
                <a:latin typeface="Trebuchet MS" pitchFamily="34" charset="0"/>
              </a:rPr>
              <a:t>28% of churners still missed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F5F4F0"/>
                </a:solidFill>
                <a:latin typeface="Trebuchet MS" pitchFamily="34" charset="0"/>
              </a:rPr>
              <a:t>Roughly 1 in 4 actual churners are not flagged. Lowering the probability threshold recovers more of these at the cost of more false alarms.</a:t>
            </a:r>
          </a:p>
        </p:txBody>
      </p:sp>
      <p:sp>
        <p:nvSpPr>
          <p:cNvPr id="8" name="Card2"/>
          <p:cNvSpPr/>
          <p:nvPr/>
        </p:nvSpPr>
        <p:spPr>
          <a:xfrm>
            <a:off x="4680480" y="1150000"/>
            <a:ext cx="4143480" cy="1550000"/>
          </a:xfrm>
          <a:prstGeom prst="rect">
            <a:avLst/>
          </a:prstGeom>
          <a:solidFill>
            <a:srgbClr val="243A52"/>
          </a:solidFill>
          <a:ln/>
        </p:spPr>
      </p:sp>
      <p:sp>
        <p:nvSpPr>
          <p:cNvPr id="9" name="Accent2"/>
          <p:cNvSpPr/>
          <p:nvPr/>
        </p:nvSpPr>
        <p:spPr>
          <a:xfrm>
            <a:off x="4680480" y="1150000"/>
            <a:ext cx="91440" cy="155000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0" name="Card2Text"/>
          <p:cNvSpPr/>
          <p:nvPr/>
        </p:nvSpPr>
        <p:spPr>
          <a:xfrm>
            <a:off x="4863960" y="1190000"/>
            <a:ext cx="3840000" cy="147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9913D"/>
                </a:solidFill>
                <a:latin typeface="Trebuchet MS" pitchFamily="34" charset="0"/>
              </a:rPr>
              <a:t>45% false positives among flagged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F5F4F0"/>
                </a:solidFill>
                <a:latin typeface="Trebuchet MS" pitchFamily="34" charset="0"/>
              </a:rPr>
              <a:t>Nearly half of flagged customers would not have churned. Outreach cost for these must be budgeted into ROI calculations.</a:t>
            </a:r>
          </a:p>
        </p:txBody>
      </p:sp>
      <p:sp>
        <p:nvSpPr>
          <p:cNvPr id="11" name="Card3"/>
          <p:cNvSpPr/>
          <p:nvPr/>
        </p:nvSpPr>
        <p:spPr>
          <a:xfrm>
            <a:off x="320040" y="2830000"/>
            <a:ext cx="2600000" cy="1780000"/>
          </a:xfrm>
          <a:prstGeom prst="rect">
            <a:avLst/>
          </a:prstGeom>
          <a:solidFill>
            <a:srgbClr val="243A52"/>
          </a:solidFill>
          <a:ln/>
        </p:spPr>
      </p:sp>
      <p:sp>
        <p:nvSpPr>
          <p:cNvPr id="12" name="Accent3"/>
          <p:cNvSpPr/>
          <p:nvPr/>
        </p:nvSpPr>
        <p:spPr>
          <a:xfrm>
            <a:off x="320040" y="2830000"/>
            <a:ext cx="91440" cy="178000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3" name="Card3Text"/>
          <p:cNvSpPr/>
          <p:nvPr/>
        </p:nvSpPr>
        <p:spPr>
          <a:xfrm>
            <a:off x="503520" y="2870000"/>
            <a:ext cx="2300000" cy="1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9913D"/>
                </a:solidFill>
                <a:latin typeface="Trebuchet MS" pitchFamily="34" charset="0"/>
              </a:rPr>
              <a:t>No demographic data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F5F4F0"/>
                </a:solidFill>
                <a:latin typeface="Trebuchet MS" pitchFamily="34" charset="0"/>
              </a:rPr>
              <a:t>Age, income, and contract type are known churn drivers but absent from this dataset</a:t>
            </a:r>
          </a:p>
        </p:txBody>
      </p:sp>
      <p:sp>
        <p:nvSpPr>
          <p:cNvPr id="14" name="Card4"/>
          <p:cNvSpPr/>
          <p:nvPr/>
        </p:nvSpPr>
        <p:spPr>
          <a:xfrm>
            <a:off x="3105000" y="2830000"/>
            <a:ext cx="2600000" cy="1780000"/>
          </a:xfrm>
          <a:prstGeom prst="rect">
            <a:avLst/>
          </a:prstGeom>
          <a:solidFill>
            <a:srgbClr val="243A52"/>
          </a:solidFill>
          <a:ln/>
        </p:spPr>
      </p:sp>
      <p:sp>
        <p:nvSpPr>
          <p:cNvPr id="15" name="Accent4"/>
          <p:cNvSpPr/>
          <p:nvPr/>
        </p:nvSpPr>
        <p:spPr>
          <a:xfrm>
            <a:off x="3105000" y="2830000"/>
            <a:ext cx="91440" cy="178000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6" name="Card4Text"/>
          <p:cNvSpPr/>
          <p:nvPr/>
        </p:nvSpPr>
        <p:spPr>
          <a:xfrm>
            <a:off x="3288480" y="2870000"/>
            <a:ext cx="2300000" cy="1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9913D"/>
                </a:solidFill>
                <a:latin typeface="Trebuchet MS" pitchFamily="34" charset="0"/>
              </a:rPr>
              <a:t>No timestamps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F5F4F0"/>
                </a:solidFill>
                <a:latin typeface="Trebuchet MS" pitchFamily="34" charset="0"/>
              </a:rPr>
              <a:t>Static snapshot — cannot detect seasonality or model churn as a time-to-event problem</a:t>
            </a:r>
          </a:p>
        </p:txBody>
      </p:sp>
      <p:sp>
        <p:nvSpPr>
          <p:cNvPr id="17" name="Card5"/>
          <p:cNvSpPr/>
          <p:nvPr/>
        </p:nvSpPr>
        <p:spPr>
          <a:xfrm>
            <a:off x="5889960" y="2830000"/>
            <a:ext cx="2933520" cy="1780000"/>
          </a:xfrm>
          <a:prstGeom prst="rect">
            <a:avLst/>
          </a:prstGeom>
          <a:solidFill>
            <a:srgbClr val="243A52"/>
          </a:solidFill>
          <a:ln/>
        </p:spPr>
      </p:sp>
      <p:sp>
        <p:nvSpPr>
          <p:cNvPr id="18" name="Accent5"/>
          <p:cNvSpPr/>
          <p:nvPr/>
        </p:nvSpPr>
        <p:spPr>
          <a:xfrm>
            <a:off x="5889960" y="2830000"/>
            <a:ext cx="91440" cy="1780000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19" name="Card5Text"/>
          <p:cNvSpPr/>
          <p:nvPr/>
        </p:nvSpPr>
        <p:spPr>
          <a:xfrm>
            <a:off x="6073440" y="2870000"/>
            <a:ext cx="2700000" cy="1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9913D"/>
                </a:solidFill>
                <a:latin typeface="Trebuchet MS" pitchFamily="34" charset="0"/>
              </a:rPr>
              <a:t>Needs quarterly retraining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F5F4F0"/>
                </a:solidFill>
                <a:latin typeface="Trebuchet MS" pitchFamily="34" charset="0"/>
              </a:rPr>
              <a:t>Pricing changes and market shifts erode accuracy over time — model must be refreshed regularly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C9913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7315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51560" y="2788920"/>
            <a:ext cx="1554480" cy="1078992"/>
          </a:xfrm>
          <a:prstGeom prst="rect">
            <a:avLst/>
          </a:prstGeom>
          <a:solidFill>
            <a:srgbClr val="243A52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81635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51560" y="34015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Churners Caught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2788920"/>
            <a:ext cx="1554480" cy="1078992"/>
          </a:xfrm>
          <a:prstGeom prst="rect">
            <a:avLst/>
          </a:prstGeom>
          <a:solidFill>
            <a:srgbClr val="243A52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81635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880360" y="34015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AUC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788920"/>
            <a:ext cx="1554480" cy="1078992"/>
          </a:xfrm>
          <a:prstGeom prst="rect">
            <a:avLst/>
          </a:prstGeom>
          <a:solidFill>
            <a:srgbClr val="243A52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81635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09160" y="34015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Actions to Start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37960" y="2788920"/>
            <a:ext cx="1554480" cy="1078992"/>
          </a:xfrm>
          <a:prstGeom prst="rect">
            <a:avLst/>
          </a:prstGeom>
          <a:solidFill>
            <a:srgbClr val="243A52"/>
          </a:solidFill>
          <a:ln w="12700">
            <a:solidFill>
              <a:srgbClr val="C991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81635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1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37960" y="34015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4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At-Risk / Year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0965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Science Team  ·  Moringa School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1194</Words>
  <Application>Microsoft Office PowerPoint</Application>
  <PresentationFormat>On-screen Show (16:9)</PresentationFormat>
  <Paragraphs>209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Customer Churn Prediction</dc:title>
  <dc:subject>PptxGenJS Presentation</dc:subject>
  <dc:creator>PptxGenJS</dc:creator>
  <cp:lastModifiedBy>user</cp:lastModifiedBy>
  <cp:revision>16</cp:revision>
  <dcterms:created xsi:type="dcterms:W3CDTF">2026-05-04T03:47:55Z</dcterms:created>
  <dcterms:modified xsi:type="dcterms:W3CDTF">2026-05-05T19:24:05Z</dcterms:modified>
</cp:coreProperties>
</file>